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73" r:id="rId9"/>
    <p:sldId id="275" r:id="rId10"/>
    <p:sldId id="274" r:id="rId11"/>
    <p:sldId id="264" r:id="rId12"/>
    <p:sldId id="265" r:id="rId13"/>
    <p:sldId id="276" r:id="rId14"/>
  </p:sldIdLst>
  <p:sldSz cx="9906000" cy="6858000" type="A4"/>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0" d="100"/>
          <a:sy n="80" d="100"/>
        </p:scale>
        <p:origin x="-1330" y="-77"/>
      </p:cViewPr>
      <p:guideLst>
        <p:guide orient="horz" pos="2160"/>
        <p:guide pos="312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641FD4-4FDD-4482-AAD0-5B3E8A8E3488}"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641FD4-4FDD-4482-AAD0-5B3E8A8E3488}"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641FD4-4FDD-4482-AAD0-5B3E8A8E3488}"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6575"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48300" y="1600201"/>
            <a:ext cx="474662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641FD4-4FDD-4482-AAD0-5B3E8A8E3488}" type="datetimeFigureOut">
              <a:rPr lang="en-US" smtClean="0"/>
              <a:pPr/>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641FD4-4FDD-4482-AAD0-5B3E8A8E3488}" type="datetimeFigureOut">
              <a:rPr lang="en-US" smtClean="0"/>
              <a:pPr/>
              <a:t>5/21/2025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641FD4-4FDD-4482-AAD0-5B3E8A8E3488}" type="datetimeFigureOut">
              <a:rPr lang="en-US" smtClean="0"/>
              <a:pPr/>
              <a:t>5/21/2025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641FD4-4FDD-4482-AAD0-5B3E8A8E3488}" type="datetimeFigureOut">
              <a:rPr lang="en-US" smtClean="0"/>
              <a:pPr/>
              <a:t>5/21/2025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641FD4-4FDD-4482-AAD0-5B3E8A8E3488}" type="datetimeFigureOut">
              <a:rPr lang="en-US" smtClean="0"/>
              <a:pPr/>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641FD4-4FDD-4482-AAD0-5B3E8A8E3488}" type="datetimeFigureOut">
              <a:rPr lang="en-US" smtClean="0"/>
              <a:pPr/>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641FD4-4FDD-4482-AAD0-5B3E8A8E3488}"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80337" y="274639"/>
            <a:ext cx="2414588"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6575" y="274639"/>
            <a:ext cx="7078663"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641FD4-4FDD-4482-AAD0-5B3E8A8E3488}" type="datetimeFigureOut">
              <a:rPr lang="en-US" smtClean="0"/>
              <a:pPr/>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7FCD51-2AFF-4968-8CE2-5463BA27A0A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641FD4-4FDD-4482-AAD0-5B3E8A8E3488}" type="datetimeFigureOut">
              <a:rPr lang="en-US" smtClean="0"/>
              <a:pPr/>
              <a:t>5/21/2025</a:t>
            </a:fld>
            <a:endParaRPr lang="en-US"/>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7FCD51-2AFF-4968-8CE2-5463BA27A0A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lc="http://schemas.openxmlformats.org/drawingml/2006/lockedCanvas" xmlns:a16="http://schemas.microsoft.com/office/drawing/2014/main" id="{E3BFC88F-8D82-4C75-0E87-1FDF030A50A8}"/>
              </a:ext>
            </a:extLst>
          </p:cNvPr>
          <p:cNvSpPr>
            <a:spLocks noGrp="1"/>
          </p:cNvSpPr>
          <p:nvPr/>
        </p:nvSpPr>
        <p:spPr>
          <a:xfrm>
            <a:off x="0" y="0"/>
            <a:ext cx="9906000" cy="84639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000" b="1" i="0" u="none" strike="noStrike" dirty="0">
                <a:effectLst/>
                <a:latin typeface="Times New Roman" panose="02020603050405020304" pitchFamily="18" charset="0"/>
              </a:rPr>
              <a:t>   EAST WEST INSTITUTE OF TECHNOLOGY</a:t>
            </a:r>
            <a:endParaRPr lang="en-IN" sz="3000" dirty="0"/>
          </a:p>
        </p:txBody>
      </p:sp>
      <p:sp>
        <p:nvSpPr>
          <p:cNvPr id="3" name="TextBox 8">
            <a:extLst>
              <a:ext uri="{FF2B5EF4-FFF2-40B4-BE49-F238E27FC236}">
                <a16:creationId xmlns="" xmlns:lc="http://schemas.openxmlformats.org/drawingml/2006/lockedCanvas" xmlns:a16="http://schemas.microsoft.com/office/drawing/2014/main" id="{469591B0-3E04-1559-B8DE-20755F0A6C50}"/>
              </a:ext>
            </a:extLst>
          </p:cNvPr>
          <p:cNvSpPr txBox="1"/>
          <p:nvPr/>
        </p:nvSpPr>
        <p:spPr>
          <a:xfrm>
            <a:off x="6205290" y="4714884"/>
            <a:ext cx="3700710" cy="127727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b="1" u="sng" dirty="0">
                <a:latin typeface="Times New Roman" panose="02020603050405020304" pitchFamily="18" charset="0"/>
                <a:cs typeface="Times New Roman" panose="02020603050405020304" pitchFamily="18" charset="0"/>
              </a:rPr>
              <a:t>Presented By: </a:t>
            </a:r>
          </a:p>
          <a:p>
            <a:pPr algn="ctr"/>
            <a:endParaRPr lang="en-IN" sz="1100" u="sng" dirty="0">
              <a:latin typeface="Times New Roman" panose="02020603050405020304" pitchFamily="18" charset="0"/>
              <a:cs typeface="Times New Roman" panose="02020603050405020304" pitchFamily="18" charset="0"/>
            </a:endParaRPr>
          </a:p>
          <a:p>
            <a:pPr marL="342900" indent="-342900" algn="just">
              <a:buAutoNum type="arabicPeriod"/>
            </a:pPr>
            <a:r>
              <a:rPr lang="en-IN" sz="1600" dirty="0" smtClean="0">
                <a:latin typeface="Times New Roman" panose="02020603050405020304" pitchFamily="18" charset="0"/>
                <a:cs typeface="Times New Roman" panose="02020603050405020304" pitchFamily="18" charset="0"/>
              </a:rPr>
              <a:t>MADHU.S        </a:t>
            </a:r>
            <a:r>
              <a:rPr lang="en-IN" sz="1600" dirty="0">
                <a:latin typeface="Times New Roman" panose="02020603050405020304" pitchFamily="18" charset="0"/>
                <a:cs typeface="Times New Roman" panose="02020603050405020304" pitchFamily="18" charset="0"/>
              </a:rPr>
              <a:t>(1EW23AD025)</a:t>
            </a:r>
          </a:p>
          <a:p>
            <a:pPr marL="342900" indent="-342900" algn="just">
              <a:buAutoNum type="arabicPeriod"/>
            </a:pPr>
            <a:r>
              <a:rPr lang="en-IN" sz="1600" dirty="0">
                <a:latin typeface="Times New Roman" panose="02020603050405020304" pitchFamily="18" charset="0"/>
                <a:cs typeface="Times New Roman" panose="02020603050405020304" pitchFamily="18" charset="0"/>
              </a:rPr>
              <a:t>MEGHRAJ.D L (IEW23ADO29)</a:t>
            </a:r>
          </a:p>
          <a:p>
            <a:pPr marL="342900" indent="-342900" algn="just">
              <a:buAutoNum type="arabicPeriod"/>
            </a:pPr>
            <a:r>
              <a:rPr lang="en-IN" sz="1600" dirty="0">
                <a:latin typeface="Times New Roman" panose="02020603050405020304" pitchFamily="18" charset="0"/>
                <a:cs typeface="Times New Roman" panose="02020603050405020304" pitchFamily="18" charset="0"/>
              </a:rPr>
              <a:t>JAGATHISH.M (1EW23AD018)        </a:t>
            </a:r>
          </a:p>
        </p:txBody>
      </p:sp>
      <p:pic>
        <p:nvPicPr>
          <p:cNvPr id="4" name="Picture 3" descr="Ewit – East West Institute of Technology">
            <a:extLst>
              <a:ext uri="{FF2B5EF4-FFF2-40B4-BE49-F238E27FC236}">
                <a16:creationId xmlns="" xmlns:lc="http://schemas.openxmlformats.org/drawingml/2006/lockedCanvas" xmlns:a16="http://schemas.microsoft.com/office/drawing/2014/main" id="{6DD0561C-2AFD-A7A2-2AD1-DB15762DE388}"/>
              </a:ext>
            </a:extLst>
          </p:cNvPr>
          <p:cNvPicPr>
            <a:picLocks noChangeAspect="1" noChangeArrowheads="1"/>
          </p:cNvPicPr>
          <p:nvPr/>
        </p:nvPicPr>
        <p:blipFill rotWithShape="1">
          <a:blip r:embed="rId2">
            <a:extLst>
              <a:ext uri="{28A0092B-C50C-407E-A947-70E740481C1C}">
                <a14:useLocalDpi xmlns="" xmlns:lc="http://schemas.openxmlformats.org/drawingml/2006/lockedCanvas" xmlns:a14="http://schemas.microsoft.com/office/drawing/2010/main" val="0"/>
              </a:ext>
            </a:extLst>
          </a:blip>
          <a:srcRect l="-17841" t="-16792" b="-12016"/>
          <a:stretch/>
        </p:blipFill>
        <p:spPr bwMode="auto">
          <a:xfrm>
            <a:off x="-119098" y="142852"/>
            <a:ext cx="1258062" cy="1214446"/>
          </a:xfrm>
          <a:prstGeom prst="rect">
            <a:avLst/>
          </a:prstGeom>
          <a:noFill/>
          <a:extLst>
            <a:ext uri="{909E8E84-426E-40DD-AFC4-6F175D3DCCD1}">
              <a14:hiddenFill xmlns="" xmlns:lc="http://schemas.openxmlformats.org/drawingml/2006/lockedCanvas" xmlns:a14="http://schemas.microsoft.com/office/drawing/2010/main">
                <a:solidFill>
                  <a:srgbClr val="FFFFFF"/>
                </a:solidFill>
              </a14:hiddenFill>
            </a:ext>
          </a:extLst>
        </p:spPr>
      </p:pic>
      <p:sp>
        <p:nvSpPr>
          <p:cNvPr id="5" name="TextBox 3">
            <a:extLst>
              <a:ext uri="{FF2B5EF4-FFF2-40B4-BE49-F238E27FC236}">
                <a16:creationId xmlns="" xmlns:lc="http://schemas.openxmlformats.org/drawingml/2006/lockedCanvas" xmlns:a16="http://schemas.microsoft.com/office/drawing/2014/main" id="{C068D11F-76C6-0E57-06BC-EC13B5F6B0EC}"/>
              </a:ext>
            </a:extLst>
          </p:cNvPr>
          <p:cNvSpPr txBox="1"/>
          <p:nvPr/>
        </p:nvSpPr>
        <p:spPr>
          <a:xfrm>
            <a:off x="0" y="928670"/>
            <a:ext cx="9906000"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1" dirty="0">
                <a:effectLst/>
                <a:latin typeface="Times New Roman" panose="02020603050405020304" pitchFamily="18" charset="0"/>
                <a:ea typeface="Times New Roman" panose="02020603050405020304" pitchFamily="18" charset="0"/>
              </a:rPr>
              <a:t>  DEPARTMENT OF ARTIFICIAL INTELLIGENCE AND DATA SCIENCE</a:t>
            </a:r>
            <a:endParaRPr lang="en-US" dirty="0"/>
          </a:p>
        </p:txBody>
      </p:sp>
      <p:sp>
        <p:nvSpPr>
          <p:cNvPr id="6" name="TextBox 5">
            <a:extLst>
              <a:ext uri="{FF2B5EF4-FFF2-40B4-BE49-F238E27FC236}">
                <a16:creationId xmlns="" xmlns:lc="http://schemas.openxmlformats.org/drawingml/2006/lockedCanvas" xmlns:a16="http://schemas.microsoft.com/office/drawing/2014/main" id="{FE5557CA-EA91-7CB7-CF1F-5AEEAA79530A}"/>
              </a:ext>
            </a:extLst>
          </p:cNvPr>
          <p:cNvSpPr txBox="1"/>
          <p:nvPr/>
        </p:nvSpPr>
        <p:spPr>
          <a:xfrm>
            <a:off x="0" y="1714488"/>
            <a:ext cx="9906000"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000" dirty="0">
                <a:latin typeface="Times New Roman" panose="02020603050405020304" pitchFamily="18" charset="0"/>
                <a:cs typeface="Times New Roman" panose="02020603050405020304" pitchFamily="18" charset="0"/>
              </a:rPr>
              <a:t>DATABASE MANAGEMENT SYSTEM</a:t>
            </a:r>
          </a:p>
        </p:txBody>
      </p:sp>
      <p:sp>
        <p:nvSpPr>
          <p:cNvPr id="7" name="TextBox 9">
            <a:extLst>
              <a:ext uri="{FF2B5EF4-FFF2-40B4-BE49-F238E27FC236}">
                <a16:creationId xmlns="" xmlns:lc="http://schemas.openxmlformats.org/drawingml/2006/lockedCanvas" xmlns:a16="http://schemas.microsoft.com/office/drawing/2014/main" id="{2D8289B9-B2D2-6CF7-26A7-D0954DFC1C4B}"/>
              </a:ext>
            </a:extLst>
          </p:cNvPr>
          <p:cNvSpPr txBox="1"/>
          <p:nvPr/>
        </p:nvSpPr>
        <p:spPr>
          <a:xfrm>
            <a:off x="0" y="2143116"/>
            <a:ext cx="9906000"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000" dirty="0">
                <a:latin typeface="Times New Roman" panose="02020603050405020304" pitchFamily="18" charset="0"/>
                <a:cs typeface="Times New Roman" panose="02020603050405020304" pitchFamily="18" charset="0"/>
              </a:rPr>
              <a:t>MINI-PROJECT</a:t>
            </a:r>
          </a:p>
        </p:txBody>
      </p:sp>
      <p:sp>
        <p:nvSpPr>
          <p:cNvPr id="8" name="TextBox 10">
            <a:extLst>
              <a:ext uri="{FF2B5EF4-FFF2-40B4-BE49-F238E27FC236}">
                <a16:creationId xmlns="" xmlns:lc="http://schemas.openxmlformats.org/drawingml/2006/lockedCanvas" xmlns:a16="http://schemas.microsoft.com/office/drawing/2014/main" id="{EE63F04D-14D7-F85B-9807-789222485AF5}"/>
              </a:ext>
            </a:extLst>
          </p:cNvPr>
          <p:cNvSpPr txBox="1"/>
          <p:nvPr/>
        </p:nvSpPr>
        <p:spPr>
          <a:xfrm>
            <a:off x="0" y="3571876"/>
            <a:ext cx="9906000"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dirty="0">
                <a:latin typeface="Times New Roman" panose="02020603050405020304" pitchFamily="18" charset="0"/>
                <a:cs typeface="Times New Roman" panose="02020603050405020304" pitchFamily="18" charset="0"/>
              </a:rPr>
              <a:t>PROJECT NAME: GAME COMPLEX MANAGEMENT SYSTEM</a:t>
            </a:r>
          </a:p>
        </p:txBody>
      </p:sp>
      <p:sp>
        <p:nvSpPr>
          <p:cNvPr id="9" name="TextBox 11">
            <a:extLst>
              <a:ext uri="{FF2B5EF4-FFF2-40B4-BE49-F238E27FC236}">
                <a16:creationId xmlns="" xmlns:lc="http://schemas.openxmlformats.org/drawingml/2006/lockedCanvas" xmlns:a16="http://schemas.microsoft.com/office/drawing/2014/main" id="{0DE762E5-6E2C-C5D2-C5C9-81E2249C473B}"/>
              </a:ext>
            </a:extLst>
          </p:cNvPr>
          <p:cNvSpPr txBox="1"/>
          <p:nvPr/>
        </p:nvSpPr>
        <p:spPr>
          <a:xfrm>
            <a:off x="238092" y="4714884"/>
            <a:ext cx="3418052" cy="707886"/>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000" b="1" dirty="0">
                <a:latin typeface="Times New Roman" panose="02020603050405020304" pitchFamily="18" charset="0"/>
                <a:cs typeface="Times New Roman" panose="02020603050405020304" pitchFamily="18" charset="0"/>
              </a:rPr>
              <a:t>Guidance of :  </a:t>
            </a:r>
            <a:r>
              <a:rPr lang="en-US" sz="2000" b="0" dirty="0">
                <a:effectLst/>
                <a:latin typeface="Times" panose="02020603050405020304" pitchFamily="18" charset="0"/>
              </a:rPr>
              <a:t>Prof. Vinayak S</a:t>
            </a:r>
          </a:p>
          <a:p>
            <a:pPr algn="ctr"/>
            <a:endParaRPr lang="en-US" sz="2000" b="1" dirty="0">
              <a:latin typeface="Times New Roman" panose="02020603050405020304" pitchFamily="18" charset="0"/>
              <a:cs typeface="Times New Roman" panose="02020603050405020304" pitchFamily="18" charset="0"/>
            </a:endParaRPr>
          </a:p>
        </p:txBody>
      </p:sp>
      <p:sp>
        <p:nvSpPr>
          <p:cNvPr id="10" name="TextBox 13">
            <a:extLst>
              <a:ext uri="{FF2B5EF4-FFF2-40B4-BE49-F238E27FC236}">
                <a16:creationId xmlns="" xmlns:lc="http://schemas.openxmlformats.org/drawingml/2006/lockedCanvas" xmlns:a16="http://schemas.microsoft.com/office/drawing/2014/main" id="{75C8B996-68A2-BE81-223C-895B45BF3838}"/>
              </a:ext>
            </a:extLst>
          </p:cNvPr>
          <p:cNvSpPr txBox="1"/>
          <p:nvPr/>
        </p:nvSpPr>
        <p:spPr>
          <a:xfrm>
            <a:off x="0" y="2714620"/>
            <a:ext cx="9906000" cy="46166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4</a:t>
            </a:r>
            <a:r>
              <a:rPr lang="en-US" sz="2400" baseline="30000" dirty="0" smtClean="0">
                <a:latin typeface="Times New Roman" panose="02020603050405020304" pitchFamily="18" charset="0"/>
                <a:cs typeface="Times New Roman" panose="02020603050405020304" pitchFamily="18" charset="0"/>
              </a:rPr>
              <a:t>th</a:t>
            </a:r>
            <a:r>
              <a:rPr lang="en-US" sz="2400" dirty="0" smtClean="0">
                <a:latin typeface="Times New Roman" panose="02020603050405020304" pitchFamily="18" charset="0"/>
                <a:cs typeface="Times New Roman" panose="02020603050405020304" pitchFamily="18" charset="0"/>
              </a:rPr>
              <a:t> Semester 2025</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 xmlns:lc="http://schemas.openxmlformats.org/drawingml/2006/lockedCanvas" xmlns:a16="http://schemas.microsoft.com/office/drawing/2014/main" id="{1587F653-0796-AF16-1C53-595BB77CCFBC}"/>
              </a:ext>
            </a:extLst>
          </p:cNvPr>
          <p:cNvPicPr>
            <a:picLocks noGrp="1" noChangeAspect="1"/>
          </p:cNvPicPr>
          <p:nvPr/>
        </p:nvPicPr>
        <p:blipFill>
          <a:blip r:embed="rId2"/>
          <a:stretch>
            <a:fillRect/>
          </a:stretch>
        </p:blipFill>
        <p:spPr>
          <a:xfrm>
            <a:off x="0" y="0"/>
            <a:ext cx="9906000" cy="6858000"/>
          </a:xfrm>
          <a:prstGeom prst="rect">
            <a:avLst/>
          </a:prstGeom>
        </p:spPr>
      </p:pic>
    </p:spTree>
  </p:cSld>
  <p:clrMapOvr>
    <a:masterClrMapping/>
  </p:clrMapOvr>
  <p:transition spd="med">
    <p:pull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odern-game-pad-with-wire-video-games-blue-3d-joystick-game-console-dynamic-geometric-symbols-computer-games-concept-your-template-design-vector-illustration_185386-792.jpg"/>
          <p:cNvPicPr>
            <a:picLocks noChangeAspect="1"/>
          </p:cNvPicPr>
          <p:nvPr/>
        </p:nvPicPr>
        <p:blipFill>
          <a:blip r:embed="rId2"/>
          <a:stretch>
            <a:fillRect/>
          </a:stretch>
        </p:blipFill>
        <p:spPr>
          <a:xfrm>
            <a:off x="-1" y="0"/>
            <a:ext cx="9906001" cy="6858000"/>
          </a:xfrm>
          <a:prstGeom prst="rect">
            <a:avLst/>
          </a:prstGeom>
        </p:spPr>
      </p:pic>
      <p:sp>
        <p:nvSpPr>
          <p:cNvPr id="2" name="TextBox 1">
            <a:extLst>
              <a:ext uri="{FF2B5EF4-FFF2-40B4-BE49-F238E27FC236}">
                <a16:creationId xmlns="" xmlns:lc="http://schemas.openxmlformats.org/drawingml/2006/lockedCanvas" xmlns:a16="http://schemas.microsoft.com/office/drawing/2014/main" id="{CD5AF502-F318-1674-A1CB-AA0891C7BB3C}"/>
              </a:ext>
            </a:extLst>
          </p:cNvPr>
          <p:cNvSpPr txBox="1"/>
          <p:nvPr/>
        </p:nvSpPr>
        <p:spPr>
          <a:xfrm>
            <a:off x="0" y="214290"/>
            <a:ext cx="9906000"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INTRODUCTION</a:t>
            </a:r>
            <a:endParaRPr lang="en-US" sz="3200"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lc="http://schemas.openxmlformats.org/drawingml/2006/lockedCanvas" xmlns:a16="http://schemas.microsoft.com/office/drawing/2014/main" id="{DD82A5BE-25A5-E2C9-6A04-ABB76C708492}"/>
              </a:ext>
            </a:extLst>
          </p:cNvPr>
          <p:cNvSpPr txBox="1"/>
          <p:nvPr/>
        </p:nvSpPr>
        <p:spPr>
          <a:xfrm>
            <a:off x="309530" y="1857364"/>
            <a:ext cx="6667512" cy="378565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2400" dirty="0">
                <a:solidFill>
                  <a:schemeClr val="bg1"/>
                </a:solidFill>
                <a:latin typeface="Times New Roman" pitchFamily="18" charset="0"/>
                <a:cs typeface="Times New Roman" pitchFamily="18" charset="0"/>
              </a:rPr>
              <a:t>This mini-project, a Game Complex Management System using MongoDB, streamlines game sales and customer data. It efficiently collects and stores detailed customer information, including purchase history, enabling easy access and flexible, scalable data storage with real-time updates. Key features include customer registration, purchase tracking, and an intuitive interface for monitoring trends. The system enhances operational efficiency and maintains data integrity.</a:t>
            </a:r>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modern-game-pad-with-wire-video-games-blue-3d-joystick-game-console-dynamic-geometric-symbols-computer-games-concept-your-template-design-vector-illustration_185386-792.jpg"/>
          <p:cNvPicPr>
            <a:picLocks noChangeAspect="1"/>
          </p:cNvPicPr>
          <p:nvPr/>
        </p:nvPicPr>
        <p:blipFill>
          <a:blip r:embed="rId2"/>
          <a:stretch>
            <a:fillRect/>
          </a:stretch>
        </p:blipFill>
        <p:spPr>
          <a:xfrm>
            <a:off x="0" y="0"/>
            <a:ext cx="9906000" cy="6858000"/>
          </a:xfrm>
          <a:prstGeom prst="rect">
            <a:avLst/>
          </a:prstGeom>
        </p:spPr>
      </p:pic>
      <p:sp>
        <p:nvSpPr>
          <p:cNvPr id="2" name="TextBox 1">
            <a:extLst>
              <a:ext uri="{FF2B5EF4-FFF2-40B4-BE49-F238E27FC236}">
                <a16:creationId xmlns="" xmlns:lc="http://schemas.openxmlformats.org/drawingml/2006/lockedCanvas" xmlns:a16="http://schemas.microsoft.com/office/drawing/2014/main" id="{1E117DC0-B3A3-39D4-B3EB-A39D1EE055E4}"/>
              </a:ext>
            </a:extLst>
          </p:cNvPr>
          <p:cNvSpPr txBox="1"/>
          <p:nvPr/>
        </p:nvSpPr>
        <p:spPr>
          <a:xfrm>
            <a:off x="0" y="142852"/>
            <a:ext cx="9906000"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dirty="0">
                <a:solidFill>
                  <a:schemeClr val="bg1"/>
                </a:solidFill>
                <a:latin typeface="Times New Roman" panose="02020603050405020304" pitchFamily="18" charset="0"/>
                <a:cs typeface="Times New Roman" panose="02020603050405020304" pitchFamily="18" charset="0"/>
              </a:rPr>
              <a:t>TOOLS USED</a:t>
            </a:r>
          </a:p>
        </p:txBody>
      </p:sp>
      <p:sp>
        <p:nvSpPr>
          <p:cNvPr id="3" name="TextBox 6">
            <a:extLst>
              <a:ext uri="{FF2B5EF4-FFF2-40B4-BE49-F238E27FC236}">
                <a16:creationId xmlns="" xmlns:lc="http://schemas.openxmlformats.org/drawingml/2006/lockedCanvas" xmlns:a16="http://schemas.microsoft.com/office/drawing/2014/main" id="{DBDC98A7-02F0-51FD-3B1E-9F8808BA6A02}"/>
              </a:ext>
            </a:extLst>
          </p:cNvPr>
          <p:cNvSpPr txBox="1"/>
          <p:nvPr/>
        </p:nvSpPr>
        <p:spPr>
          <a:xfrm>
            <a:off x="-449820" y="2066035"/>
            <a:ext cx="150094"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bg1"/>
              </a:solidFill>
            </a:endParaRPr>
          </a:p>
        </p:txBody>
      </p:sp>
      <p:sp>
        <p:nvSpPr>
          <p:cNvPr id="4" name="Rectangle 3">
            <a:extLst>
              <a:ext uri="{FF2B5EF4-FFF2-40B4-BE49-F238E27FC236}">
                <a16:creationId xmlns="" xmlns:lc="http://schemas.openxmlformats.org/drawingml/2006/lockedCanvas" xmlns:a16="http://schemas.microsoft.com/office/drawing/2014/main" id="{DC7EC21E-6D9F-F14D-65DD-D089297895F5}"/>
              </a:ext>
            </a:extLst>
          </p:cNvPr>
          <p:cNvSpPr>
            <a:spLocks noChangeArrowheads="1"/>
          </p:cNvSpPr>
          <p:nvPr/>
        </p:nvSpPr>
        <p:spPr bwMode="auto">
          <a:xfrm>
            <a:off x="166654" y="1571612"/>
            <a:ext cx="4714908" cy="4093428"/>
          </a:xfrm>
          <a:prstGeom prst="rect">
            <a:avLst/>
          </a:prstGeom>
          <a:noFill/>
          <a:ln>
            <a:noFill/>
          </a:ln>
          <a:effectLst/>
          <a:extLst>
            <a:ext uri="{909E8E84-426E-40DD-AFC4-6F175D3DCCD1}">
              <a14:hiddenFill xmlns="" xmlns:lc="http://schemas.openxmlformats.org/drawingml/2006/lockedCanvas" xmlns:a14="http://schemas.microsoft.com/office/drawing/2010/main">
                <a:solidFill>
                  <a:schemeClr val="accent1"/>
                </a:solidFill>
              </a14:hiddenFill>
            </a:ext>
            <a:ext uri="{91240B29-F687-4F45-9708-019B960494DF}">
              <a14:hiddenLine xmlns="" xmlns:lc="http://schemas.openxmlformats.org/drawingml/2006/lockedCanvas" xmlns:a14="http://schemas.microsoft.com/office/drawing/2010/main" w="9525">
                <a:solidFill>
                  <a:schemeClr val="tx1"/>
                </a:solidFill>
                <a:miter lim="800000"/>
                <a:headEnd/>
                <a:tailEnd/>
              </a14:hiddenLine>
            </a:ext>
            <a:ext uri="{AF507438-7753-43E0-B8FC-AC1667EBCBE1}">
              <a14:hiddenEffects xmlns="" xmlns:lc="http://schemas.openxmlformats.org/drawingml/2006/lockedCanva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sng"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FRONTEND TECHNOLOGIES:</a:t>
            </a:r>
            <a:endParaRPr kumimoji="0" lang="en-US" altLang="en-US" sz="2000" b="0" i="0" u="sng"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HTML (Hypertext Markup Language)</a:t>
            </a:r>
            <a:endParaRPr lang="en-US" altLang="en-US" sz="2000" dirty="0">
              <a:solidFill>
                <a:schemeClr val="bg1"/>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CSS (Cascading Style Sheets</a:t>
            </a:r>
          </a:p>
          <a:p>
            <a:pPr lvl="1" eaLnBrk="0" fontAlgn="base" hangingPunct="0">
              <a:spcBef>
                <a:spcPct val="0"/>
              </a:spcBef>
              <a:spcAft>
                <a:spcPct val="0"/>
              </a:spcAft>
              <a:buFontTx/>
              <a:buChar char="•"/>
            </a:pPr>
            <a:r>
              <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Tailwind CSS</a:t>
            </a:r>
          </a:p>
          <a:p>
            <a:pPr lvl="1" eaLnBrk="0" fontAlgn="base" hangingPunct="0">
              <a:spcBef>
                <a:spcPct val="0"/>
              </a:spcBef>
              <a:spcAft>
                <a:spcPct val="0"/>
              </a:spcAft>
              <a:buFontTx/>
              <a:buChar char="•"/>
            </a:pPr>
            <a:r>
              <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Bootstrap</a:t>
            </a:r>
          </a:p>
          <a:p>
            <a:pPr lvl="1" eaLnBrk="0" fontAlgn="base" hangingPunct="0">
              <a:spcBef>
                <a:spcPct val="0"/>
              </a:spcBef>
              <a:spcAft>
                <a:spcPct val="0"/>
              </a:spcAft>
              <a:buFontTx/>
              <a:buChar char="•"/>
            </a:pPr>
            <a:r>
              <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jQuery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Lucide</a:t>
            </a:r>
            <a:r>
              <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Icons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sng"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sng"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sng"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BACKEND TECHNOLOGIES:</a:t>
            </a:r>
          </a:p>
          <a:p>
            <a:pPr lvl="1" eaLnBrk="0" fontAlgn="base" hangingPunct="0">
              <a:spcBef>
                <a:spcPct val="0"/>
              </a:spcBef>
              <a:spcAft>
                <a:spcPct val="0"/>
              </a:spcAft>
              <a:buFontTx/>
              <a:buChar char="•"/>
            </a:pPr>
            <a:r>
              <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MySQL. </a:t>
            </a:r>
          </a:p>
          <a:p>
            <a:pPr lvl="1" eaLnBrk="0" fontAlgn="base" hangingPunct="0">
              <a:spcBef>
                <a:spcPct val="0"/>
              </a:spcBef>
              <a:spcAft>
                <a:spcPct val="0"/>
              </a:spcAft>
              <a:buFontTx/>
              <a:buChar char="•"/>
            </a:pPr>
            <a:r>
              <a:rPr lang="en-US" altLang="en-US" sz="2000" dirty="0" err="1" smtClean="0">
                <a:solidFill>
                  <a:schemeClr val="bg1"/>
                </a:solidFill>
                <a:latin typeface="Times New Roman" panose="02020603050405020304" pitchFamily="18" charset="0"/>
                <a:cs typeface="Times New Roman" panose="02020603050405020304" pitchFamily="18" charset="0"/>
              </a:rPr>
              <a:t>Django</a:t>
            </a:r>
            <a:endParaRPr kumimoji="0" lang="en-US" altLang="en-US" sz="20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lang="en-US" altLang="en-US" sz="2000" dirty="0" smtClean="0">
                <a:solidFill>
                  <a:schemeClr val="bg1"/>
                </a:solidFill>
                <a:latin typeface="Times New Roman" panose="02020603050405020304" pitchFamily="18" charset="0"/>
                <a:cs typeface="Times New Roman" panose="02020603050405020304" pitchFamily="18" charset="0"/>
              </a:rPr>
              <a:t>python</a:t>
            </a:r>
            <a:endParaRPr kumimoji="0" lang="en-US" altLang="en-US"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odern-game-pad-with-wire-video-games-blue-3d-joystick-game-console-dynamic-geometric-symbols-computer-games-concept-your-template-design-vector-illustration_185386-792.jpg"/>
          <p:cNvPicPr>
            <a:picLocks noChangeAspect="1"/>
          </p:cNvPicPr>
          <p:nvPr/>
        </p:nvPicPr>
        <p:blipFill>
          <a:blip r:embed="rId2"/>
          <a:stretch>
            <a:fillRect/>
          </a:stretch>
        </p:blipFill>
        <p:spPr>
          <a:xfrm>
            <a:off x="0" y="0"/>
            <a:ext cx="9906000" cy="6858000"/>
          </a:xfrm>
          <a:prstGeom prst="rect">
            <a:avLst/>
          </a:prstGeom>
        </p:spPr>
      </p:pic>
      <p:sp>
        <p:nvSpPr>
          <p:cNvPr id="4" name="Oval 3"/>
          <p:cNvSpPr/>
          <p:nvPr/>
        </p:nvSpPr>
        <p:spPr>
          <a:xfrm>
            <a:off x="6453198" y="6072206"/>
            <a:ext cx="928694" cy="57150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pic>
        <p:nvPicPr>
          <p:cNvPr id="5" name="Picture 4" descr="WhatsApp Image 2025-05-20 at 12.09.27 PM.jpeg"/>
          <p:cNvPicPr>
            <a:picLocks noChangeAspect="1"/>
          </p:cNvPicPr>
          <p:nvPr/>
        </p:nvPicPr>
        <p:blipFill>
          <a:blip r:embed="rId3"/>
          <a:stretch>
            <a:fillRect/>
          </a:stretch>
        </p:blipFill>
        <p:spPr>
          <a:xfrm>
            <a:off x="0" y="0"/>
            <a:ext cx="9906000" cy="6858000"/>
          </a:xfrm>
          <a:prstGeom prst="rect">
            <a:avLst/>
          </a:prstGeom>
        </p:spPr>
      </p:pic>
    </p:spTree>
  </p:cSld>
  <p:clrMapOvr>
    <a:masterClrMapping/>
  </p:clrMapOvr>
  <p:transition spd="med">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odern-game-pad-with-wire-video-games-blue-3d-joystick-game-console-dynamic-geometric-symbols-computer-games-concept-your-template-design-vector-illustration_185386-792.jpg"/>
          <p:cNvPicPr>
            <a:picLocks noChangeAspect="1"/>
          </p:cNvPicPr>
          <p:nvPr/>
        </p:nvPicPr>
        <p:blipFill>
          <a:blip r:embed="rId2"/>
          <a:stretch>
            <a:fillRect/>
          </a:stretch>
        </p:blipFill>
        <p:spPr>
          <a:xfrm>
            <a:off x="0" y="0"/>
            <a:ext cx="9906000" cy="6858000"/>
          </a:xfrm>
          <a:prstGeom prst="rect">
            <a:avLst/>
          </a:prstGeom>
        </p:spPr>
      </p:pic>
      <p:sp>
        <p:nvSpPr>
          <p:cNvPr id="3" name="TextBox 1">
            <a:extLst>
              <a:ext uri="{FF2B5EF4-FFF2-40B4-BE49-F238E27FC236}">
                <a16:creationId xmlns="" xmlns:lc="http://schemas.openxmlformats.org/drawingml/2006/lockedCanvas" xmlns:a16="http://schemas.microsoft.com/office/drawing/2014/main" id="{E08784D4-FA78-CEF2-5D02-182E74DB0434}"/>
              </a:ext>
            </a:extLst>
          </p:cNvPr>
          <p:cNvSpPr txBox="1"/>
          <p:nvPr/>
        </p:nvSpPr>
        <p:spPr>
          <a:xfrm>
            <a:off x="0" y="287601"/>
            <a:ext cx="9906000"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3200" b="1" dirty="0">
                <a:solidFill>
                  <a:schemeClr val="bg1"/>
                </a:solidFill>
                <a:effectLst/>
                <a:latin typeface="Times New Roman" panose="02020603050405020304" pitchFamily="18" charset="0"/>
                <a:ea typeface="Calibri" panose="020F0502020204030204" pitchFamily="34" charset="0"/>
              </a:rPr>
              <a:t>IMPLEMENTATION</a:t>
            </a:r>
            <a:endParaRPr lang="en-US" sz="3200" b="1" dirty="0">
              <a:solidFill>
                <a:schemeClr val="bg1"/>
              </a:solidFill>
            </a:endParaRPr>
          </a:p>
        </p:txBody>
      </p:sp>
      <p:sp>
        <p:nvSpPr>
          <p:cNvPr id="4" name="Rectangle 3">
            <a:extLst>
              <a:ext uri="{FF2B5EF4-FFF2-40B4-BE49-F238E27FC236}">
                <a16:creationId xmlns="" xmlns:lc="http://schemas.openxmlformats.org/drawingml/2006/lockedCanvas" xmlns:a16="http://schemas.microsoft.com/office/drawing/2014/main" id="{4936BEED-A20B-2574-6722-7B8CBB44EC5B}"/>
              </a:ext>
            </a:extLst>
          </p:cNvPr>
          <p:cNvSpPr>
            <a:spLocks noChangeArrowheads="1"/>
          </p:cNvSpPr>
          <p:nvPr/>
        </p:nvSpPr>
        <p:spPr bwMode="auto">
          <a:xfrm>
            <a:off x="238092" y="1285860"/>
            <a:ext cx="7058025" cy="5324535"/>
          </a:xfrm>
          <a:prstGeom prst="rect">
            <a:avLst/>
          </a:prstGeom>
          <a:noFill/>
          <a:ln>
            <a:noFill/>
          </a:ln>
          <a:effectLst/>
          <a:extLst>
            <a:ext uri="{909E8E84-426E-40DD-AFC4-6F175D3DCCD1}">
              <a14:hiddenFill xmlns="" xmlns:lc="http://schemas.openxmlformats.org/drawingml/2006/lockedCanvas" xmlns:a14="http://schemas.microsoft.com/office/drawing/2010/main">
                <a:solidFill>
                  <a:schemeClr val="accent1"/>
                </a:solidFill>
              </a14:hiddenFill>
            </a:ext>
            <a:ext uri="{91240B29-F687-4F45-9708-019B960494DF}">
              <a14:hiddenLine xmlns="" xmlns:lc="http://schemas.openxmlformats.org/drawingml/2006/lockedCanvas" xmlns:a14="http://schemas.microsoft.com/office/drawing/2010/main" w="9525">
                <a:solidFill>
                  <a:schemeClr val="tx1"/>
                </a:solidFill>
                <a:miter lim="800000"/>
                <a:headEnd/>
                <a:tailEnd/>
              </a14:hiddenLine>
            </a:ext>
            <a:ext uri="{AF507438-7753-43E0-B8FC-AC1667EBCBE1}">
              <a14:hiddenEffects xmlns="" xmlns:lc="http://schemas.openxmlformats.org/drawingml/2006/lockedCanva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User Management:</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Store user data Authenticate users &amp; authorize actions Allow users to view/update their profile.</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Facility &amp; Game Management:</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Display available facilities &amp; games Enable filtering/searching of facilities &amp; games Retrieve pricing info for bookings.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Booking Management:</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Create new bookings Check availability to prevent overlaps Retrieve user/staff bookings.</a:t>
            </a: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Store membership plan details Assign memberships to users Apply membership discounts during booking</a:t>
            </a:r>
            <a:r>
              <a:rPr lang="en-US" altLang="en-US" sz="900" dirty="0">
                <a:solidFill>
                  <a:schemeClr val="bg1"/>
                </a:solidFill>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Inventory Management :</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Track item availability Record rented items per booking Generate reports on booking trends, popular items, revenue, customer demographics.</a:t>
            </a:r>
          </a:p>
          <a:p>
            <a:pPr lvl="1" algn="just" eaLnBrk="0" fontAlgn="base" hangingPunct="0">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Enable data analysis for business insights.</a:t>
            </a:r>
          </a:p>
        </p:txBody>
      </p:sp>
    </p:spTree>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odern-game-pad-with-wire-video-games-blue-3d-joystick-game-console-dynamic-geometric-symbols-computer-games-concept-your-template-design-vector-illustration_185386-792.jpg"/>
          <p:cNvPicPr>
            <a:picLocks noChangeAspect="1"/>
          </p:cNvPicPr>
          <p:nvPr/>
        </p:nvPicPr>
        <p:blipFill>
          <a:blip r:embed="rId2"/>
          <a:stretch>
            <a:fillRect/>
          </a:stretch>
        </p:blipFill>
        <p:spPr>
          <a:xfrm>
            <a:off x="0" y="0"/>
            <a:ext cx="9906000" cy="6858000"/>
          </a:xfrm>
          <a:prstGeom prst="rect">
            <a:avLst/>
          </a:prstGeom>
        </p:spPr>
      </p:pic>
      <p:sp>
        <p:nvSpPr>
          <p:cNvPr id="3" name="TextBox 1">
            <a:extLst>
              <a:ext uri="{FF2B5EF4-FFF2-40B4-BE49-F238E27FC236}">
                <a16:creationId xmlns="" xmlns:lc="http://schemas.openxmlformats.org/drawingml/2006/lockedCanvas" xmlns:a16="http://schemas.microsoft.com/office/drawing/2014/main" id="{B0B77AD9-A543-3B1E-492C-ADF580AB844F}"/>
              </a:ext>
            </a:extLst>
          </p:cNvPr>
          <p:cNvSpPr txBox="1"/>
          <p:nvPr/>
        </p:nvSpPr>
        <p:spPr>
          <a:xfrm>
            <a:off x="0" y="214290"/>
            <a:ext cx="9739346"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dirty="0">
                <a:solidFill>
                  <a:schemeClr val="bg2"/>
                </a:solidFill>
                <a:latin typeface="Times New Roman" panose="02020603050405020304" pitchFamily="18" charset="0"/>
                <a:cs typeface="Times New Roman" panose="02020603050405020304" pitchFamily="18" charset="0"/>
              </a:rPr>
              <a:t>APPLICATIONS</a:t>
            </a:r>
          </a:p>
        </p:txBody>
      </p:sp>
      <p:sp>
        <p:nvSpPr>
          <p:cNvPr id="4" name="TextBox 2">
            <a:extLst>
              <a:ext uri="{FF2B5EF4-FFF2-40B4-BE49-F238E27FC236}">
                <a16:creationId xmlns="" xmlns:lc="http://schemas.openxmlformats.org/drawingml/2006/lockedCanvas" xmlns:a16="http://schemas.microsoft.com/office/drawing/2014/main" id="{D2D26E0F-BC5F-27DB-88FB-918D84553D31}"/>
              </a:ext>
            </a:extLst>
          </p:cNvPr>
          <p:cNvSpPr txBox="1"/>
          <p:nvPr/>
        </p:nvSpPr>
        <p:spPr>
          <a:xfrm>
            <a:off x="166654" y="1071546"/>
            <a:ext cx="7153657" cy="535531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buNone/>
            </a:pPr>
            <a:r>
              <a:rPr lang="en-US" b="1" dirty="0">
                <a:solidFill>
                  <a:schemeClr val="bg2"/>
                </a:solidFill>
                <a:latin typeface="Times New Roman" panose="02020603050405020304" pitchFamily="18" charset="0"/>
                <a:cs typeface="Times New Roman" panose="02020603050405020304" pitchFamily="18" charset="0"/>
              </a:rPr>
              <a:t>Membership and Subscription Management</a:t>
            </a:r>
            <a:endParaRPr lang="en-US" dirty="0">
              <a:solidFill>
                <a:schemeClr val="bg2"/>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Membership Sales and Renewals</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Member Benefits and Access Control</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Loyalty Programs</a:t>
            </a:r>
          </a:p>
          <a:p>
            <a:r>
              <a:rPr lang="en-US" b="1" dirty="0">
                <a:solidFill>
                  <a:schemeClr val="bg2"/>
                </a:solidFill>
                <a:latin typeface="Times New Roman" panose="02020603050405020304" pitchFamily="18" charset="0"/>
                <a:cs typeface="Times New Roman" panose="02020603050405020304" pitchFamily="18" charset="0"/>
              </a:rPr>
              <a:t>Customer Relationship Management (CRM)</a:t>
            </a:r>
            <a:endParaRPr lang="en-US" dirty="0">
              <a:solidFill>
                <a:schemeClr val="bg2"/>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User Data Management</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Communication and Notifications </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Personalized Experiences</a:t>
            </a:r>
          </a:p>
          <a:p>
            <a:r>
              <a:rPr lang="en-US" b="1" dirty="0">
                <a:solidFill>
                  <a:schemeClr val="bg2"/>
                </a:solidFill>
                <a:latin typeface="Times New Roman" panose="02020603050405020304" pitchFamily="18" charset="0"/>
                <a:cs typeface="Times New Roman" panose="02020603050405020304" pitchFamily="18" charset="0"/>
              </a:rPr>
              <a:t>Point of Sale (POS) and Payment Processing</a:t>
            </a:r>
            <a:endParaRPr lang="en-US" dirty="0">
              <a:solidFill>
                <a:schemeClr val="bg2"/>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Handling Payments</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 Sales Tracking Integration with Payment Gateways </a:t>
            </a:r>
          </a:p>
          <a:p>
            <a:r>
              <a:rPr lang="en-US" b="1" dirty="0">
                <a:solidFill>
                  <a:schemeClr val="bg2"/>
                </a:solidFill>
                <a:latin typeface="Times New Roman" panose="02020603050405020304" pitchFamily="18" charset="0"/>
                <a:cs typeface="Times New Roman" panose="02020603050405020304" pitchFamily="18" charset="0"/>
              </a:rPr>
              <a:t>Reporting and Analytics</a:t>
            </a:r>
            <a:endParaRPr lang="en-US" dirty="0">
              <a:solidFill>
                <a:schemeClr val="bg2"/>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Business Intelligence</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Performance Monitoring</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Data-Driven Decision Making</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Performance Tracking</a:t>
            </a:r>
            <a:r>
              <a:rPr lang="en-US" b="1" dirty="0">
                <a:solidFill>
                  <a:schemeClr val="bg2"/>
                </a:solidFill>
                <a:latin typeface="Times New Roman" panose="02020603050405020304" pitchFamily="18" charset="0"/>
                <a:cs typeface="Times New Roman" panose="02020603050405020304" pitchFamily="18" charset="0"/>
              </a:rPr>
              <a:t> </a:t>
            </a:r>
          </a:p>
          <a:p>
            <a:r>
              <a:rPr lang="en-US" b="1" dirty="0">
                <a:solidFill>
                  <a:schemeClr val="bg2"/>
                </a:solidFill>
                <a:latin typeface="Times New Roman" panose="02020603050405020304" pitchFamily="18" charset="0"/>
                <a:cs typeface="Times New Roman" panose="02020603050405020304" pitchFamily="18" charset="0"/>
              </a:rPr>
              <a:t>Marketing and Promotion</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Promotional Campaigns</a:t>
            </a:r>
          </a:p>
          <a:p>
            <a:pPr lvl="1">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Social Media Integration</a:t>
            </a:r>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a:extLst>
              <a:ext uri="{FF2B5EF4-FFF2-40B4-BE49-F238E27FC236}">
                <a16:creationId xmlns="" xmlns:lc="http://schemas.openxmlformats.org/drawingml/2006/lockedCanvas" xmlns:a16="http://schemas.microsoft.com/office/drawing/2014/main" id="{7C6DB644-FFED-5E25-277B-59FC7E989095}"/>
              </a:ext>
            </a:extLst>
          </p:cNvPr>
          <p:cNvSpPr txBox="1"/>
          <p:nvPr/>
        </p:nvSpPr>
        <p:spPr>
          <a:xfrm>
            <a:off x="1" y="99390"/>
            <a:ext cx="9906000"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dirty="0">
                <a:solidFill>
                  <a:schemeClr val="bg1"/>
                </a:solidFill>
                <a:latin typeface="Times New Roman" panose="02020603050405020304" pitchFamily="18" charset="0"/>
                <a:cs typeface="Times New Roman" panose="02020603050405020304" pitchFamily="18" charset="0"/>
              </a:rPr>
              <a:t>screenshots</a:t>
            </a:r>
          </a:p>
        </p:txBody>
      </p:sp>
      <p:sp>
        <p:nvSpPr>
          <p:cNvPr id="4" name="Rectangle 3">
            <a:extLst>
              <a:ext uri="{FF2B5EF4-FFF2-40B4-BE49-F238E27FC236}">
                <a16:creationId xmlns="" xmlns:lc="http://schemas.openxmlformats.org/drawingml/2006/lockedCanvas" xmlns:a16="http://schemas.microsoft.com/office/drawing/2014/main" id="{4D1CB2C7-4AAF-479C-04D3-5DAE51FE0739}"/>
              </a:ext>
            </a:extLst>
          </p:cNvPr>
          <p:cNvSpPr/>
          <p:nvPr/>
        </p:nvSpPr>
        <p:spPr>
          <a:xfrm>
            <a:off x="-190536" y="1500174"/>
            <a:ext cx="3910493" cy="923330"/>
          </a:xfrm>
          <a:prstGeom prst="rect">
            <a:avLst/>
          </a:prstGeom>
          <a:noFill/>
        </p:spPr>
        <p:txBody>
          <a:bodyPr wrap="square" lIns="91440" tIns="45720" rIns="91440" bIns="4572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Login page</a:t>
            </a:r>
          </a:p>
        </p:txBody>
      </p:sp>
      <p:pic>
        <p:nvPicPr>
          <p:cNvPr id="5" name="Picture 4" descr="login page.jpg"/>
          <p:cNvPicPr>
            <a:picLocks noChangeAspect="1"/>
          </p:cNvPicPr>
          <p:nvPr/>
        </p:nvPicPr>
        <p:blipFill>
          <a:blip r:embed="rId2"/>
          <a:stretch>
            <a:fillRect/>
          </a:stretch>
        </p:blipFill>
        <p:spPr>
          <a:xfrm>
            <a:off x="0" y="0"/>
            <a:ext cx="9906000" cy="6858000"/>
          </a:xfrm>
          <a:prstGeom prst="rect">
            <a:avLst/>
          </a:prstGeom>
        </p:spPr>
      </p:pic>
    </p:spTree>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6720" y="285728"/>
            <a:ext cx="3024174" cy="954107"/>
          </a:xfrm>
          <a:prstGeom prst="rect">
            <a:avLst/>
          </a:prstGeom>
          <a:noFill/>
        </p:spPr>
        <p:txBody>
          <a:bodyPr wrap="square" rtlCol="0">
            <a:spAutoFit/>
          </a:bodyPr>
          <a:lstStyle/>
          <a:p>
            <a:r>
              <a:rPr lang="en-US" sz="2800" dirty="0" smtClean="0">
                <a:solidFill>
                  <a:schemeClr val="bg1"/>
                </a:solidFill>
                <a:latin typeface="Times New Roman" pitchFamily="18" charset="0"/>
                <a:cs typeface="Times New Roman" pitchFamily="18" charset="0"/>
              </a:rPr>
              <a:t>PASSWORD REQUIREMENTS</a:t>
            </a:r>
            <a:endParaRPr lang="en-US" sz="2800" dirty="0">
              <a:solidFill>
                <a:schemeClr val="bg1"/>
              </a:solidFill>
              <a:latin typeface="Times New Roman" pitchFamily="18" charset="0"/>
              <a:cs typeface="Times New Roman" pitchFamily="18" charset="0"/>
            </a:endParaRPr>
          </a:p>
        </p:txBody>
      </p:sp>
      <p:pic>
        <p:nvPicPr>
          <p:cNvPr id="4" name="Picture 3" descr="create page.jpg"/>
          <p:cNvPicPr>
            <a:picLocks noChangeAspect="1"/>
          </p:cNvPicPr>
          <p:nvPr/>
        </p:nvPicPr>
        <p:blipFill>
          <a:blip r:embed="rId2"/>
          <a:stretch>
            <a:fillRect/>
          </a:stretch>
        </p:blipFill>
        <p:spPr>
          <a:xfrm>
            <a:off x="0" y="0"/>
            <a:ext cx="9906000" cy="6857999"/>
          </a:xfrm>
          <a:prstGeom prst="rect">
            <a:avLst/>
          </a:prstGeom>
        </p:spPr>
      </p:pic>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0" y="-71462"/>
            <a:ext cx="10025098" cy="7072362"/>
          </a:xfrm>
          <a:prstGeom prst="rect">
            <a:avLst/>
          </a:prstGeom>
          <a:noFill/>
          <a:ln w="9525">
            <a:noFill/>
            <a:miter lim="800000"/>
            <a:headEnd/>
            <a:tailEnd/>
          </a:ln>
          <a:effectLst/>
        </p:spPr>
      </p:pic>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odern-game-pad-with-wire-video-games-blue-3d-joystick-game-console-dynamic-geometric-symbols-computer-games-concept-your-template-design-vector-illustration_185386-792.jpg"/>
          <p:cNvPicPr>
            <a:picLocks noChangeAspect="1"/>
          </p:cNvPicPr>
          <p:nvPr/>
        </p:nvPicPr>
        <p:blipFill>
          <a:blip r:embed="rId2"/>
          <a:stretch>
            <a:fillRect/>
          </a:stretch>
        </p:blipFill>
        <p:spPr>
          <a:xfrm>
            <a:off x="0" y="0"/>
            <a:ext cx="9906000" cy="6858000"/>
          </a:xfrm>
          <a:prstGeom prst="rect">
            <a:avLst/>
          </a:prstGeom>
        </p:spPr>
      </p:pic>
      <p:sp>
        <p:nvSpPr>
          <p:cNvPr id="3" name="TextBox 1">
            <a:extLst>
              <a:ext uri="{FF2B5EF4-FFF2-40B4-BE49-F238E27FC236}">
                <a16:creationId xmlns="" xmlns:lc="http://schemas.openxmlformats.org/drawingml/2006/lockedCanvas" xmlns:a16="http://schemas.microsoft.com/office/drawing/2014/main" id="{F8035427-2148-34B7-8AE4-FB6BFCB7535E}"/>
              </a:ext>
            </a:extLst>
          </p:cNvPr>
          <p:cNvSpPr txBox="1"/>
          <p:nvPr/>
        </p:nvSpPr>
        <p:spPr>
          <a:xfrm>
            <a:off x="0" y="142852"/>
            <a:ext cx="9906000"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dirty="0">
                <a:solidFill>
                  <a:schemeClr val="bg1"/>
                </a:solidFill>
                <a:latin typeface="Times New Roman" panose="02020603050405020304" pitchFamily="18" charset="0"/>
                <a:cs typeface="Times New Roman" panose="02020603050405020304" pitchFamily="18" charset="0"/>
              </a:rPr>
              <a:t>CONCLUSION</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4" name="TextBox 2">
            <a:extLst>
              <a:ext uri="{FF2B5EF4-FFF2-40B4-BE49-F238E27FC236}">
                <a16:creationId xmlns="" xmlns:lc="http://schemas.openxmlformats.org/drawingml/2006/lockedCanvas" xmlns:a16="http://schemas.microsoft.com/office/drawing/2014/main" id="{46E7BAF4-44A2-2B89-9271-39A61918EDDB}"/>
              </a:ext>
            </a:extLst>
          </p:cNvPr>
          <p:cNvSpPr txBox="1"/>
          <p:nvPr/>
        </p:nvSpPr>
        <p:spPr>
          <a:xfrm>
            <a:off x="-708238" y="1543125"/>
            <a:ext cx="150094"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bg1"/>
              </a:solidFill>
            </a:endParaRPr>
          </a:p>
        </p:txBody>
      </p:sp>
      <p:sp>
        <p:nvSpPr>
          <p:cNvPr id="5" name="Rectangle 4">
            <a:extLst>
              <a:ext uri="{FF2B5EF4-FFF2-40B4-BE49-F238E27FC236}">
                <a16:creationId xmlns="" xmlns:lc="http://schemas.openxmlformats.org/drawingml/2006/lockedCanvas" xmlns:a16="http://schemas.microsoft.com/office/drawing/2014/main" id="{E70AC9D8-D4C6-4C19-2FDA-780419CBE899}"/>
              </a:ext>
            </a:extLst>
          </p:cNvPr>
          <p:cNvSpPr>
            <a:spLocks noChangeArrowheads="1"/>
          </p:cNvSpPr>
          <p:nvPr/>
        </p:nvSpPr>
        <p:spPr bwMode="auto">
          <a:xfrm>
            <a:off x="238092" y="1500174"/>
            <a:ext cx="6056657" cy="5170646"/>
          </a:xfrm>
          <a:prstGeom prst="rect">
            <a:avLst/>
          </a:prstGeom>
          <a:noFill/>
          <a:ln>
            <a:noFill/>
          </a:ln>
          <a:effectLst/>
          <a:extLst>
            <a:ext uri="{909E8E84-426E-40DD-AFC4-6F175D3DCCD1}">
              <a14:hiddenFill xmlns="" xmlns:lc="http://schemas.openxmlformats.org/drawingml/2006/lockedCanvas" xmlns:a14="http://schemas.microsoft.com/office/drawing/2010/main">
                <a:solidFill>
                  <a:schemeClr val="accent1"/>
                </a:solidFill>
              </a14:hiddenFill>
            </a:ext>
            <a:ext uri="{91240B29-F687-4F45-9708-019B960494DF}">
              <a14:hiddenLine xmlns="" xmlns:lc="http://schemas.openxmlformats.org/drawingml/2006/lockedCanvas" xmlns:a14="http://schemas.microsoft.com/office/drawing/2010/main" w="9525">
                <a:solidFill>
                  <a:schemeClr val="tx1"/>
                </a:solidFill>
                <a:miter lim="800000"/>
                <a:headEnd/>
                <a:tailEnd/>
              </a14:hiddenLine>
            </a:ext>
            <a:ext uri="{AF507438-7753-43E0-B8FC-AC1667EBCBE1}">
              <a14:hiddenEffects xmlns="" xmlns:lc="http://schemas.openxmlformats.org/drawingml/2006/lockedCanva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Make it easy for customers to book games online.</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lvl="1" defTabSz="914400" eaLnBrk="0" fontAlgn="base" hangingPunct="0">
              <a:lnSpc>
                <a:spcPct val="150000"/>
              </a:lnSpc>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Like booking a movie ticket, but for your favorite sport or activity.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Keep track of which courts, fields, or games are free and when.</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lvl="1" defTabSz="914400" eaLnBrk="0" fontAlgn="base" hangingPunct="0">
              <a:lnSpc>
                <a:spcPct val="150000"/>
              </a:lnSpc>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No more double bookings or guessing! </a:t>
            </a:r>
            <a:endPar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defTabSz="914400" eaLnBrk="0" fontAlgn="base" hangingPunct="0">
              <a:lnSpc>
                <a:spcPct val="150000"/>
              </a:lnSpc>
              <a:spcBef>
                <a:spcPct val="0"/>
              </a:spcBef>
              <a:spcAft>
                <a:spcPct val="0"/>
              </a:spcAf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Help manage memberships and payments smoothly.</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endParaRPr lang="en-US" altLang="en-US" sz="2000" dirty="0">
              <a:solidFill>
                <a:schemeClr val="bg1"/>
              </a:solidFill>
              <a:latin typeface="Times New Roman" panose="02020603050405020304" pitchFamily="18" charset="0"/>
              <a:cs typeface="Times New Roman" panose="02020603050405020304" pitchFamily="18" charset="0"/>
            </a:endParaRPr>
          </a:p>
          <a:p>
            <a:pPr lvl="1" defTabSz="914400" eaLnBrk="0" fontAlgn="base" hangingPunct="0">
              <a:lnSpc>
                <a:spcPct val="150000"/>
              </a:lnSpc>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Less paperwork, faster transactions. </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Collect information about what's popular and when.</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lvl="1" defTabSz="914400" eaLnBrk="0" fontAlgn="base" hangingPunct="0">
              <a:lnSpc>
                <a:spcPct val="150000"/>
              </a:lnSpc>
              <a:spcBef>
                <a:spcPct val="0"/>
              </a:spcBef>
              <a:spcAft>
                <a:spcPct val="0"/>
              </a:spcAft>
              <a:buFontTx/>
              <a:buChar char="•"/>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This helps the owners make smart decisions about schedules and what to offer. </a:t>
            </a:r>
          </a:p>
        </p:txBody>
      </p:sp>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odern-game-pad-with-wire-video-games-blue-3d-joystick-game-console-dynamic-geometric-symbols-computer-games-concept-your-template-design-vector-illustration_185386-792.jpg"/>
          <p:cNvPicPr>
            <a:picLocks noChangeAspect="1"/>
          </p:cNvPicPr>
          <p:nvPr/>
        </p:nvPicPr>
        <p:blipFill>
          <a:blip r:embed="rId2"/>
          <a:stretch>
            <a:fillRect/>
          </a:stretch>
        </p:blipFill>
        <p:spPr>
          <a:xfrm>
            <a:off x="0" y="0"/>
            <a:ext cx="9906000" cy="6858000"/>
          </a:xfrm>
          <a:prstGeom prst="rect">
            <a:avLst/>
          </a:prstGeom>
        </p:spPr>
      </p:pic>
      <p:sp>
        <p:nvSpPr>
          <p:cNvPr id="3" name="TextBox 1">
            <a:extLst>
              <a:ext uri="{FF2B5EF4-FFF2-40B4-BE49-F238E27FC236}">
                <a16:creationId xmlns="" xmlns:lc="http://schemas.openxmlformats.org/drawingml/2006/lockedCanvas" xmlns:a16="http://schemas.microsoft.com/office/drawing/2014/main" id="{9C04B67F-F112-5C53-A222-7D3978858AA0}"/>
              </a:ext>
            </a:extLst>
          </p:cNvPr>
          <p:cNvSpPr txBox="1"/>
          <p:nvPr/>
        </p:nvSpPr>
        <p:spPr>
          <a:xfrm>
            <a:off x="0" y="221019"/>
            <a:ext cx="990600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dirty="0">
                <a:solidFill>
                  <a:schemeClr val="bg1"/>
                </a:solidFill>
                <a:latin typeface="Times New Roman" panose="02020603050405020304" pitchFamily="18" charset="0"/>
                <a:cs typeface="Times New Roman" panose="02020603050405020304" pitchFamily="18" charset="0"/>
              </a:rPr>
              <a:t>Future works </a:t>
            </a:r>
          </a:p>
        </p:txBody>
      </p:sp>
      <p:sp>
        <p:nvSpPr>
          <p:cNvPr id="4" name="TextBox 2">
            <a:extLst>
              <a:ext uri="{FF2B5EF4-FFF2-40B4-BE49-F238E27FC236}">
                <a16:creationId xmlns="" xmlns:lc="http://schemas.openxmlformats.org/drawingml/2006/lockedCanvas" xmlns:a16="http://schemas.microsoft.com/office/drawing/2014/main" id="{52EE5E36-3EE1-A905-9490-FAEC1E7B5C8A}"/>
              </a:ext>
            </a:extLst>
          </p:cNvPr>
          <p:cNvSpPr txBox="1"/>
          <p:nvPr/>
        </p:nvSpPr>
        <p:spPr>
          <a:xfrm>
            <a:off x="166654" y="1714488"/>
            <a:ext cx="8596338" cy="452431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nSpc>
                <a:spcPct val="150000"/>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Enhanced Personalization &amp; AI-Driven Recommendations</a:t>
            </a:r>
          </a:p>
          <a:p>
            <a:pPr marL="285750" indent="-285750">
              <a:lnSpc>
                <a:spcPct val="150000"/>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Immersive Experiences with AR/VR Integration</a:t>
            </a:r>
          </a:p>
          <a:p>
            <a:pPr marL="285750" indent="-285750">
              <a:lnSpc>
                <a:spcPct val="150000"/>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Internet of Things (IoT) Integration for Smart Facilities</a:t>
            </a:r>
          </a:p>
          <a:p>
            <a:pPr marL="285750" indent="-285750">
              <a:lnSpc>
                <a:spcPct val="150000"/>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Gamification and Loyalty Programs</a:t>
            </a:r>
          </a:p>
          <a:p>
            <a:pPr marL="285750" indent="-285750">
              <a:lnSpc>
                <a:spcPct val="150000"/>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Enhanced Communication and Community Building</a:t>
            </a:r>
          </a:p>
          <a:p>
            <a:pPr marL="285750" indent="-285750">
              <a:lnSpc>
                <a:spcPct val="150000"/>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Blockchain for Secure Transactions and Ownership</a:t>
            </a:r>
          </a:p>
          <a:p>
            <a:pPr marL="285750" indent="-285750">
              <a:lnSpc>
                <a:spcPct val="150000"/>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Cross-Platform Integration and Mobile-First Approach</a:t>
            </a:r>
          </a:p>
          <a:p>
            <a:pPr marL="285750" indent="-285750">
              <a:lnSpc>
                <a:spcPct val="150000"/>
              </a:lnSpc>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Advanced Reporting and Predictive Analytics</a:t>
            </a:r>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holding a stick with flames coming out of them&#10;&#10;AI-generated content may be incorrect.">
            <a:extLst>
              <a:ext uri="{FF2B5EF4-FFF2-40B4-BE49-F238E27FC236}">
                <a16:creationId xmlns="" xmlns:lc="http://schemas.openxmlformats.org/drawingml/2006/lockedCanvas" xmlns:a16="http://schemas.microsoft.com/office/drawing/2014/main" id="{2C6CEF5C-AE2A-F325-D5A5-B2C919841EAF}"/>
              </a:ext>
            </a:extLst>
          </p:cNvPr>
          <p:cNvPicPr>
            <a:picLocks noChangeAspect="1"/>
          </p:cNvPicPr>
          <p:nvPr/>
        </p:nvPicPr>
        <p:blipFill>
          <a:blip r:embed="rId2">
            <a:extLst>
              <a:ext uri="{28A0092B-C50C-407E-A947-70E740481C1C}">
                <a14:useLocalDpi xmlns="" xmlns:lc="http://schemas.openxmlformats.org/drawingml/2006/lockedCanvas" xmlns:a14="http://schemas.microsoft.com/office/drawing/2010/main" val="0"/>
              </a:ext>
            </a:extLst>
          </a:blip>
          <a:stretch>
            <a:fillRect/>
          </a:stretch>
        </p:blipFill>
        <p:spPr>
          <a:xfrm>
            <a:off x="0" y="0"/>
            <a:ext cx="9906000" cy="6985773"/>
          </a:xfrm>
          <a:prstGeom prst="rect">
            <a:avLst/>
          </a:prstGeom>
        </p:spPr>
      </p:pic>
      <p:sp>
        <p:nvSpPr>
          <p:cNvPr id="3" name="TextBox 3">
            <a:extLst>
              <a:ext uri="{FF2B5EF4-FFF2-40B4-BE49-F238E27FC236}">
                <a16:creationId xmlns="" xmlns:lc="http://schemas.openxmlformats.org/drawingml/2006/lockedCanvas" xmlns:a16="http://schemas.microsoft.com/office/drawing/2014/main" id="{53742555-F1BC-1560-189C-9EA4470757CD}"/>
              </a:ext>
            </a:extLst>
          </p:cNvPr>
          <p:cNvSpPr txBox="1"/>
          <p:nvPr/>
        </p:nvSpPr>
        <p:spPr>
          <a:xfrm>
            <a:off x="1381100" y="285728"/>
            <a:ext cx="7572428" cy="186204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500" b="1" dirty="0">
                <a:latin typeface="Times New Roman" panose="02020603050405020304" pitchFamily="18" charset="0"/>
                <a:cs typeface="Times New Roman" panose="02020603050405020304" pitchFamily="18" charset="0"/>
              </a:rPr>
              <a:t>Thank you</a:t>
            </a:r>
          </a:p>
        </p:txBody>
      </p:sp>
    </p:spTree>
  </p:cSld>
  <p:clrMapOvr>
    <a:masterClrMapping/>
  </p:clrMapOvr>
  <p:transition spd="slow">
    <p:wipe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382</Words>
  <Application>Microsoft Office PowerPoint</Application>
  <PresentationFormat>A4 Paper (210x297 mm)</PresentationFormat>
  <Paragraphs>81</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MADHU.S</dc:creator>
  <cp:lastModifiedBy>MADHU.S</cp:lastModifiedBy>
  <cp:revision>12</cp:revision>
  <dcterms:created xsi:type="dcterms:W3CDTF">2025-04-11T16:25:39Z</dcterms:created>
  <dcterms:modified xsi:type="dcterms:W3CDTF">2025-05-21T04:01:12Z</dcterms:modified>
</cp:coreProperties>
</file>